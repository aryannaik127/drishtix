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64592"/>
            <a:ext cx="2148840" cy="9054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200" b="1">
                <a:solidFill>
                  <a:srgbClr val="1E3A8A"/>
                </a:solidFill>
                <a:latin typeface="Arial"/>
              </a:defRPr>
            </a:pPr>
            <a:r>
              <a:t>SMART INDIA HACKATHON 2026</a:t>
            </a:r>
          </a:p>
        </p:txBody>
      </p:sp>
      <p:pic>
        <p:nvPicPr>
          <p:cNvPr id="4" name="Picture 3" descr="slide1_brain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5303520" cy="52757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01168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 Problem Statement ID –</a:t>
            </a:r>
          </a:p>
          <a:p>
            <a:pPr>
              <a:spcAft>
                <a:spcPts val="2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 Problem Statement Title -</a:t>
            </a:r>
          </a:p>
          <a:p>
            <a:pPr>
              <a:spcAft>
                <a:spcPts val="2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 Theme -</a:t>
            </a:r>
          </a:p>
          <a:p>
            <a:pPr>
              <a:spcAft>
                <a:spcPts val="2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 PS Category - Software/Hardware</a:t>
            </a:r>
          </a:p>
          <a:p>
            <a:pPr>
              <a:spcAft>
                <a:spcPts val="2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 Team ID -</a:t>
            </a:r>
          </a:p>
          <a:p>
            <a:pPr>
              <a:spcAft>
                <a:spcPts val="2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 Team Name (Registered on portal)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rish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371600" cy="924674"/>
          </a:xfrm>
          <a:prstGeom prst="rect">
            <a:avLst/>
          </a:prstGeom>
        </p:spPr>
      </p:pic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09728"/>
            <a:ext cx="1965960" cy="8283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28016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3A8A"/>
                </a:solidFill>
                <a:latin typeface="Arial"/>
              </a:defRPr>
            </a:pPr>
            <a:r>
              <a:t>DRISHTIX – INTELLIGENT BORDER SURVEILLANCE PLATFORM</a:t>
            </a:r>
          </a:p>
          <a:p>
            <a:pPr>
              <a:defRPr sz="1350" i="1" b="1">
                <a:solidFill>
                  <a:srgbClr val="1E40AF"/>
                </a:solidFill>
                <a:latin typeface="Segoe UI"/>
              </a:defRPr>
            </a:pPr>
            <a:r>
              <a:t>Turning Existing CCTV infrastructure into intelligent Actionable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510528"/>
            <a:ext cx="48737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>
                <a:solidFill>
                  <a:srgbClr val="1E40AF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1E40A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2176272" cy="2450592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2336" y="1243584"/>
            <a:ext cx="2103120" cy="347472"/>
          </a:xfrm>
          <a:prstGeom prst="roundRect">
            <a:avLst/>
          </a:prstGeom>
          <a:solidFill>
            <a:srgbClr val="6B46C1"/>
          </a:solidFill>
          <a:ln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💡 1. OUR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609344"/>
            <a:ext cx="202996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8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Create a software-defined AI platform that converts existing CCTV cameras into an intelligent surveillance network without requiring expensive hardware.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207008"/>
            <a:ext cx="2176272" cy="2450592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88336" y="1243584"/>
            <a:ext cx="210312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🧩 2. 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609344"/>
            <a:ext cx="202996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Existing CCTV is passive and requires constant manual monitoring.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High false alarms with conventional motion detection.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Advanced features like FRS, ANPR, intrusion detection require costly hardware.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Difficult &amp; expensive to deploy at large scale, especially in remote border areas.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207008"/>
            <a:ext cx="2176272" cy="2450592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74336" y="1243584"/>
            <a:ext cx="2103120" cy="347472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🎯 3. OUR SOLUTION (DRISHTIX)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1609344"/>
            <a:ext cx="202996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80" b="1">
                <a:solidFill>
                  <a:srgbClr val="0F766E"/>
                </a:solidFill>
                <a:latin typeface="Arial"/>
              </a:defRPr>
            </a:pPr>
            <a:r>
              <a:t>AI-Powered Video Analytics Platform</a:t>
            </a:r>
          </a:p>
          <a:p>
            <a:pPr>
              <a:spcAft>
                <a:spcPts val="10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Human Detection &amp; Tracking</a:t>
            </a:r>
          </a:p>
          <a:p>
            <a:pPr>
              <a:spcAft>
                <a:spcPts val="10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Vehicle Detection &amp; Classification</a:t>
            </a:r>
          </a:p>
          <a:p>
            <a:pPr>
              <a:spcAft>
                <a:spcPts val="10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Face Detection</a:t>
            </a:r>
          </a:p>
          <a:p>
            <a:pPr>
              <a:spcAft>
                <a:spcPts val="10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ANPR (Plate Recognition)</a:t>
            </a:r>
          </a:p>
          <a:p>
            <a:pPr>
              <a:spcAft>
                <a:spcPts val="10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Virtual Fence Intrusion Detection</a:t>
            </a:r>
          </a:p>
          <a:p>
            <a:pPr>
              <a:spcAft>
                <a:spcPts val="10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Suspicious Activity Detection</a:t>
            </a:r>
          </a:p>
          <a:p>
            <a:pPr>
              <a:spcAft>
                <a:spcPts val="10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Night-Time Movement Detection</a:t>
            </a:r>
          </a:p>
          <a:p>
            <a:pPr>
              <a:spcAft>
                <a:spcPts val="10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Real-Time Alerts &amp; Event Logging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207008"/>
            <a:ext cx="2176272" cy="2450592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0336" y="1243584"/>
            <a:ext cx="2103120" cy="347472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🛡 4. KEY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1609344"/>
            <a:ext cx="202996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Works with existing CCTV infrastructure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Eliminates dependency on expensive hardware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Real-time alerts for quick response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Improved situational awareness for border security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Scalable, cost-effective for remote locations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Seamless integration with Command &amp; Control systems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207008"/>
            <a:ext cx="2176272" cy="2450592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46336" y="1243584"/>
            <a:ext cx="2103120" cy="347472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⚙ 5. TECHNOLOGIES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2912" y="1609344"/>
            <a:ext cx="202996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Python, FastAPI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OpenCV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YOLOv8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Deep Learning (Autoencoders, LSTM)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OCR / ANPR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PostgreSQL / SQLite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React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49039"/>
            <a:ext cx="6492240" cy="2697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2336" y="3785615"/>
            <a:ext cx="6419088" cy="3291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6. SOLUTION PROTOTYPE – WORKFLOW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224527"/>
            <a:ext cx="1078992" cy="20848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9496" y="4261103"/>
            <a:ext cx="1005840" cy="347472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8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663439"/>
            <a:ext cx="1024128" cy="16093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>
                <a:solidFill>
                  <a:srgbClr val="0F172A"/>
                </a:solidFill>
                <a:latin typeface="Segoe UI"/>
              </a:defRPr>
            </a:pPr>
            <a:r>
              <a:t>Existing CCTV</a:t>
            </a:r>
            <a:br/>
            <a:r>
              <a:t>(IP / RTSP Feeds)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63624" y="5047487"/>
            <a:ext cx="14630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1640" y="4224527"/>
            <a:ext cx="1078992" cy="20848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728216" y="4261103"/>
            <a:ext cx="1005840" cy="347472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80" b="1">
                <a:solidFill>
                  <a:srgbClr val="FFFFFF"/>
                </a:solidFill>
                <a:latin typeface="Arial"/>
              </a:defRPr>
            </a:pPr>
            <a:r>
              <a:t>PREPROCESSING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663439"/>
            <a:ext cx="1024128" cy="16093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>
                <a:solidFill>
                  <a:srgbClr val="0F172A"/>
                </a:solidFill>
                <a:latin typeface="Segoe UI"/>
              </a:defRPr>
            </a:pPr>
            <a:r>
              <a:t>Frame Extraction</a:t>
            </a:r>
            <a:br/>
            <a:r>
              <a:t>Resize • Noise Reduc.</a:t>
            </a:r>
            <a:br/>
            <a:r>
              <a:t>Normalization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52344" y="5047487"/>
            <a:ext cx="14630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4224527"/>
            <a:ext cx="1078992" cy="20848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916936" y="4261103"/>
            <a:ext cx="1005840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80" b="1">
                <a:solidFill>
                  <a:srgbClr val="FFFFFF"/>
                </a:solidFill>
                <a:latin typeface="Arial"/>
              </a:defRPr>
            </a:pPr>
            <a:r>
              <a:t>AI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07792" y="4663439"/>
            <a:ext cx="1024128" cy="16093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>
                <a:solidFill>
                  <a:srgbClr val="0F172A"/>
                </a:solidFill>
                <a:latin typeface="Segoe UI"/>
              </a:defRPr>
            </a:pPr>
            <a:r>
              <a:t>Detection &amp; Track</a:t>
            </a:r>
            <a:br/>
            <a:r>
              <a:t>Feature Extraction</a:t>
            </a:r>
            <a:br/>
            <a:r>
              <a:t>Anomaly Detection</a:t>
            </a:r>
            <a:br/>
            <a:r>
              <a:t>Rule &amp; Event Anal.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41064" y="5047487"/>
            <a:ext cx="14630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69080" y="4224527"/>
            <a:ext cx="1078992" cy="20848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105656" y="4261103"/>
            <a:ext cx="1005840" cy="34747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8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96512" y="4663439"/>
            <a:ext cx="1024128" cy="16093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>
                <a:solidFill>
                  <a:srgbClr val="0F172A"/>
                </a:solidFill>
                <a:latin typeface="Segoe UI"/>
              </a:defRPr>
            </a:pPr>
            <a:r>
              <a:t>Real-time Alerts</a:t>
            </a:r>
            <a:br/>
            <a:r>
              <a:t>Event Logging</a:t>
            </a:r>
            <a:br/>
            <a:r>
              <a:t>Snapshots / Clips</a:t>
            </a:r>
            <a:br/>
            <a:r>
              <a:t>Risk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9784" y="5047487"/>
            <a:ext cx="14630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57800" y="4224527"/>
            <a:ext cx="1078992" cy="20848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294376" y="4261103"/>
            <a:ext cx="1005840" cy="347472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80" b="1">
                <a:solidFill>
                  <a:srgbClr val="FFFFFF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85232" y="4663439"/>
            <a:ext cx="1024128" cy="16093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>
                <a:solidFill>
                  <a:srgbClr val="0F172A"/>
                </a:solidFill>
                <a:latin typeface="Segoe UI"/>
              </a:defRPr>
            </a:pPr>
            <a:r>
              <a:t>Live Monitoring</a:t>
            </a:r>
            <a:br/>
            <a:r>
              <a:t>Event Tagging</a:t>
            </a:r>
            <a:br/>
            <a:r>
              <a:t>Search &amp; Filter</a:t>
            </a:r>
            <a:br/>
            <a:r>
              <a:t>Reports &amp; Analytics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67728" y="3749039"/>
            <a:ext cx="4855464" cy="2697480"/>
          </a:xfrm>
          <a:prstGeom prst="roundRect">
            <a:avLst/>
          </a:prstGeom>
          <a:solidFill>
            <a:srgbClr val="1E1B4B"/>
          </a:solidFill>
          <a:ln w="1524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004304" y="3785615"/>
            <a:ext cx="4782312" cy="329184"/>
          </a:xfrm>
          <a:prstGeom prst="roundRect">
            <a:avLst/>
          </a:prstGeom>
          <a:solidFill>
            <a:srgbClr val="6B46C1"/>
          </a:solidFill>
          <a:ln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📺 7. PROTOTYPE SCREEN (DEMO VIEW)</a:t>
            </a:r>
          </a:p>
        </p:txBody>
      </p:sp>
      <p:pic>
        <p:nvPicPr>
          <p:cNvPr id="45" name="Picture 44" descr="prototype_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151375"/>
            <a:ext cx="4709160" cy="22219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rish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371600" cy="924674"/>
          </a:xfrm>
          <a:prstGeom prst="rect">
            <a:avLst/>
          </a:prstGeom>
        </p:spPr>
      </p:pic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09728"/>
            <a:ext cx="1965960" cy="8283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46304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1E3A8A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510528"/>
            <a:ext cx="48737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>
                <a:solidFill>
                  <a:srgbClr val="1E40AF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1E40A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749808"/>
            <a:ext cx="3959352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2176272" cy="20574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2336" y="950976"/>
            <a:ext cx="2103120" cy="310896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&lt;/&gt; 1. PROGRAMMING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1280160"/>
            <a:ext cx="2066544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Python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Core development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AI/ML pipeline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Automation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Alert handling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Integration &amp;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914400"/>
            <a:ext cx="2176272" cy="20574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88336" y="950976"/>
            <a:ext cx="2103120" cy="310896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2. COMPUTER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1280160"/>
            <a:ext cx="2066544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16A34A"/>
                </a:solidFill>
                <a:latin typeface="Arial"/>
              </a:defRPr>
            </a:pPr>
            <a:r>
              <a:t>OpenCV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Video processing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Frame extraction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Image preprocessing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Object / Face detection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Tracking &amp; contouring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914400"/>
            <a:ext cx="2176272" cy="205740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74336" y="950976"/>
            <a:ext cx="2103120" cy="310896"/>
          </a:xfrm>
          <a:prstGeom prst="roundRect">
            <a:avLst/>
          </a:prstGeom>
          <a:solidFill>
            <a:srgbClr val="6B46C1"/>
          </a:solidFill>
          <a:ln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3. AI / MACHINE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280160"/>
            <a:ext cx="2066544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6B46C1"/>
                </a:solidFill>
                <a:latin typeface="Arial"/>
              </a:defRPr>
            </a:pPr>
            <a:r>
              <a:t>Deep Learning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YOLO-based detection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Autoencoders for anomaly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LSTM for temporal seq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Behavior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914400"/>
            <a:ext cx="2176272" cy="205740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0336" y="950976"/>
            <a:ext cx="2103120" cy="310896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4. ANPR &amp;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1280160"/>
            <a:ext cx="2066544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EA580C"/>
                </a:solidFill>
                <a:latin typeface="Arial"/>
              </a:defRPr>
            </a:pPr>
            <a:r>
              <a:t>OCR / ANPR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Number plate detection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Character recognition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Vehicle identification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Event classification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Confidence scoring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914400"/>
            <a:ext cx="2176272" cy="20574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46336" y="950976"/>
            <a:ext cx="2103120" cy="310896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5. PLATFORM &amp;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4624" y="1280160"/>
            <a:ext cx="2066544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FastAPI + Database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FastAPI for backend APIs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Event logging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PostgreSQL / SQLite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Data storage &amp; retrieval</a:t>
            </a:r>
          </a:p>
          <a:p>
            <a:pPr>
              <a:spcAft>
                <a:spcPts val="1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Web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063240"/>
            <a:ext cx="11460175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3099816"/>
            <a:ext cx="2057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680" b="1">
                <a:solidFill>
                  <a:srgbClr val="1D4ED8"/>
                </a:solidFill>
                <a:latin typeface="Arial"/>
              </a:defRPr>
            </a:pPr>
            <a:r>
              <a:t>INPUT: Existing CCTV / RTSP Feeds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099816"/>
            <a:ext cx="237744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98064" y="3099816"/>
            <a:ext cx="2057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680" b="1">
                <a:solidFill>
                  <a:srgbClr val="16A34A"/>
                </a:solidFill>
                <a:latin typeface="Arial"/>
              </a:defRPr>
            </a:pPr>
            <a:r>
              <a:t>AI PROCESSING: Computer Vision &amp; Deep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5464" y="3099816"/>
            <a:ext cx="237744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93208" y="3099816"/>
            <a:ext cx="2057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680" b="1">
                <a:solidFill>
                  <a:srgbClr val="6B46C1"/>
                </a:solidFill>
                <a:latin typeface="Arial"/>
              </a:defRPr>
            </a:pPr>
            <a:r>
              <a:t>INTELLIGENCE: Detection, Tracking &amp;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099816"/>
            <a:ext cx="237744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88352" y="3099816"/>
            <a:ext cx="2057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680" b="1">
                <a:solidFill>
                  <a:srgbClr val="EA580C"/>
                </a:solidFill>
                <a:latin typeface="Arial"/>
              </a:defRPr>
            </a:pPr>
            <a:r>
              <a:t>ALERT: Real-Time Alerts &amp; Notifications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099816"/>
            <a:ext cx="237744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83496" y="3099816"/>
            <a:ext cx="2057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680" b="1">
                <a:solidFill>
                  <a:srgbClr val="0D9488"/>
                </a:solidFill>
                <a:latin typeface="Arial"/>
              </a:defRPr>
            </a:pPr>
            <a:r>
              <a:t>RESPONSE: Action by Security Forces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584448"/>
            <a:ext cx="740664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639312"/>
            <a:ext cx="7132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Arial"/>
              </a:defRPr>
            </a:pPr>
            <a:r>
              <a:t>2. METHODOLOGY &amp; IMPLEMENTATION  —  DRISHTIX : From Video to Actionable Intelligence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4005072"/>
            <a:ext cx="1115568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12064" y="4041648"/>
            <a:ext cx="1042416" cy="329184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20" b="1">
                <a:solidFill>
                  <a:srgbClr val="FFFFFF"/>
                </a:solidFill>
                <a:latin typeface="Arial"/>
              </a:defRPr>
            </a:pPr>
            <a:r>
              <a:t>1. VIDEO 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389120"/>
            <a:ext cx="1060704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Capture video from existing CCTV cameras</a:t>
            </a:r>
          </a:p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(IP / RTSP Feeds)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64208" y="4005072"/>
            <a:ext cx="1115568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700784" y="4041648"/>
            <a:ext cx="1042416" cy="329184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20" b="1">
                <a:solidFill>
                  <a:srgbClr val="FFFFFF"/>
                </a:solidFill>
                <a:latin typeface="Arial"/>
              </a:defRPr>
            </a:pPr>
            <a:r>
              <a:t>2. PREPROCESSING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4389120"/>
            <a:ext cx="1060704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Frame extraction, resize,</a:t>
            </a:r>
          </a:p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normalization, noise reduction,</a:t>
            </a:r>
          </a:p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enhancement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52928" y="4005072"/>
            <a:ext cx="1115568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89504" y="4041648"/>
            <a:ext cx="1042416" cy="329184"/>
          </a:xfrm>
          <a:prstGeom prst="roundRect">
            <a:avLst/>
          </a:prstGeom>
          <a:solidFill>
            <a:srgbClr val="6B46C1"/>
          </a:solidFill>
          <a:ln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20" b="1">
                <a:solidFill>
                  <a:srgbClr val="FFFFFF"/>
                </a:solidFill>
                <a:latin typeface="Arial"/>
              </a:defRPr>
            </a:pPr>
            <a:r>
              <a:t>3. AI ANALYTICS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4389120"/>
            <a:ext cx="1060704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Human / Vehicle Detection</a:t>
            </a:r>
          </a:p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Face Detection, ANPR</a:t>
            </a:r>
          </a:p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Tracking (DeepSORT)</a:t>
            </a:r>
          </a:p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Feature Extraction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41648" y="4005072"/>
            <a:ext cx="1115568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078224" y="4041648"/>
            <a:ext cx="1042416" cy="329184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20" b="1">
                <a:solidFill>
                  <a:srgbClr val="FFFFFF"/>
                </a:solidFill>
                <a:latin typeface="Arial"/>
              </a:defRPr>
            </a:pPr>
            <a:r>
              <a:t>4. EVENT 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9080" y="4389120"/>
            <a:ext cx="1060704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Virtual Fence Intrusion</a:t>
            </a:r>
          </a:p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Suspicious Activity</a:t>
            </a:r>
          </a:p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Night-Time Movement</a:t>
            </a:r>
          </a:p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Rule Engine &amp; Risk Scoring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230368" y="4005072"/>
            <a:ext cx="1115568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266944" y="4041648"/>
            <a:ext cx="1042416" cy="329184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20" b="1">
                <a:solidFill>
                  <a:srgbClr val="FFFFFF"/>
                </a:solidFill>
                <a:latin typeface="Arial"/>
              </a:defRPr>
            </a:pPr>
            <a:r>
              <a:t>5. ALERT ENGINE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4389120"/>
            <a:ext cx="1060704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Real-Time Alerts</a:t>
            </a:r>
          </a:p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Risk Class (Low/Med/High)</a:t>
            </a:r>
          </a:p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Notifications: Email, SMS,</a:t>
            </a:r>
          </a:p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WhatsApp &amp; Dashboard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19088" y="4005072"/>
            <a:ext cx="1115568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55664" y="4041648"/>
            <a:ext cx="1042416" cy="329184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20" b="1">
                <a:solidFill>
                  <a:srgbClr val="FFFFFF"/>
                </a:solidFill>
                <a:latin typeface="Arial"/>
              </a:defRPr>
            </a:pPr>
            <a:r>
              <a:t>6. DASHBOARD &amp; LOGS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389120"/>
            <a:ext cx="1060704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Live View (Multi-Camera)</a:t>
            </a:r>
          </a:p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Event Log &amp; Snapshots</a:t>
            </a:r>
          </a:p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Search, Filter &amp; Reports</a:t>
            </a:r>
          </a:p>
          <a:p>
            <a:pPr>
              <a:spcAft>
                <a:spcPts val="150"/>
              </a:spcAft>
              <a:defRPr sz="720">
                <a:solidFill>
                  <a:srgbClr val="0F172A"/>
                </a:solidFill>
                <a:latin typeface="Segoe UI"/>
              </a:defRPr>
            </a:pPr>
            <a:r>
              <a:t>• Export &amp; Integration APIs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82127" y="3584448"/>
            <a:ext cx="3941063" cy="2834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918703" y="3621024"/>
            <a:ext cx="3867911" cy="292608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WORKING PROTOTYPE (DEMO FLOW)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3950208"/>
            <a:ext cx="1920240" cy="2395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  <a:defRPr sz="750" b="1">
                <a:solidFill>
                  <a:srgbClr val="1E3A8A"/>
                </a:solidFill>
                <a:latin typeface="Segoe UI"/>
              </a:defRPr>
            </a:pPr>
            <a:r>
              <a:t>📹 Camera Feed (Live Video)</a:t>
            </a:r>
          </a:p>
          <a:p>
            <a:pPr algn="ctr">
              <a:spcAft>
                <a:spcPts val="100"/>
              </a:spcAft>
              <a:defRPr sz="800" b="0">
                <a:solidFill>
                  <a:srgbClr val="64748B"/>
                </a:solidFill>
                <a:latin typeface="Segoe UI"/>
              </a:defRPr>
            </a:pPr>
            <a:r>
              <a:t>↓</a:t>
            </a:r>
          </a:p>
          <a:p>
            <a:pPr algn="ctr">
              <a:spcAft>
                <a:spcPts val="100"/>
              </a:spcAft>
              <a:defRPr sz="750" b="1">
                <a:solidFill>
                  <a:srgbClr val="1E3A8A"/>
                </a:solidFill>
                <a:latin typeface="Segoe UI"/>
              </a:defRPr>
            </a:pPr>
            <a:r>
              <a:t>🧠 AI Detection (Objects/Faces)</a:t>
            </a:r>
          </a:p>
          <a:p>
            <a:pPr algn="ctr">
              <a:spcAft>
                <a:spcPts val="100"/>
              </a:spcAft>
              <a:defRPr sz="800" b="0">
                <a:solidFill>
                  <a:srgbClr val="64748B"/>
                </a:solidFill>
                <a:latin typeface="Segoe UI"/>
              </a:defRPr>
            </a:pPr>
            <a:r>
              <a:t>↓</a:t>
            </a:r>
          </a:p>
          <a:p>
            <a:pPr algn="ctr">
              <a:spcAft>
                <a:spcPts val="100"/>
              </a:spcAft>
              <a:defRPr sz="750" b="1">
                <a:solidFill>
                  <a:srgbClr val="1E3A8A"/>
                </a:solidFill>
                <a:latin typeface="Segoe UI"/>
              </a:defRPr>
            </a:pPr>
            <a:r>
              <a:t>⚠️ Event Identified (Anomaly)</a:t>
            </a:r>
          </a:p>
          <a:p>
            <a:pPr algn="ctr">
              <a:spcAft>
                <a:spcPts val="100"/>
              </a:spcAft>
              <a:defRPr sz="800" b="0">
                <a:solidFill>
                  <a:srgbClr val="64748B"/>
                </a:solidFill>
                <a:latin typeface="Segoe UI"/>
              </a:defRPr>
            </a:pPr>
            <a:r>
              <a:t>↓</a:t>
            </a:r>
          </a:p>
          <a:p>
            <a:pPr algn="ctr">
              <a:spcAft>
                <a:spcPts val="100"/>
              </a:spcAft>
              <a:defRPr sz="750" b="1">
                <a:solidFill>
                  <a:srgbClr val="1E3A8A"/>
                </a:solidFill>
                <a:latin typeface="Segoe UI"/>
              </a:defRPr>
            </a:pPr>
            <a:r>
              <a:t>🔔 Alert Generated (Real-Time)</a:t>
            </a:r>
          </a:p>
          <a:p>
            <a:pPr algn="ctr">
              <a:spcAft>
                <a:spcPts val="100"/>
              </a:spcAft>
              <a:defRPr sz="800" b="0">
                <a:solidFill>
                  <a:srgbClr val="64748B"/>
                </a:solidFill>
                <a:latin typeface="Segoe UI"/>
              </a:defRPr>
            </a:pPr>
            <a:r>
              <a:t>↓</a:t>
            </a:r>
          </a:p>
          <a:p>
            <a:pPr algn="ctr">
              <a:spcAft>
                <a:spcPts val="100"/>
              </a:spcAft>
              <a:defRPr sz="750" b="1">
                <a:solidFill>
                  <a:srgbClr val="1E3A8A"/>
                </a:solidFill>
                <a:latin typeface="Segoe UI"/>
              </a:defRPr>
            </a:pPr>
            <a:r>
              <a:t>💾 Evidence Stored (Clip + Log)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12095" y="3968496"/>
            <a:ext cx="1810512" cy="2359152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⚠️ EXAMPLE ALERT</a:t>
            </a:r>
          </a:p>
          <a:p>
            <a:pPr algn="ctr">
              <a:spcAft>
                <a:spcPts val="400"/>
              </a:spcAft>
              <a:defRPr sz="800" b="1">
                <a:solidFill>
                  <a:srgbClr val="991B1B"/>
                </a:solidFill>
                <a:latin typeface="Arial"/>
              </a:defRPr>
            </a:pPr>
            <a:r>
              <a:t>VIRTUAL FENCE INTRUSION</a:t>
            </a:r>
          </a:p>
          <a:p>
            <a:pPr>
              <a:spcAft>
                <a:spcPts val="200"/>
              </a:spcAft>
              <a:defRPr sz="750" b="0">
                <a:solidFill>
                  <a:srgbClr val="0F172A"/>
                </a:solidFill>
                <a:latin typeface="Segoe UI"/>
              </a:defRPr>
            </a:pPr>
            <a:r>
              <a:t>Camera: CAM-04</a:t>
            </a:r>
          </a:p>
          <a:p>
            <a:pPr>
              <a:spcAft>
                <a:spcPts val="200"/>
              </a:spcAft>
              <a:defRPr sz="750" b="0">
                <a:solidFill>
                  <a:srgbClr val="0F172A"/>
                </a:solidFill>
                <a:latin typeface="Segoe UI"/>
              </a:defRPr>
            </a:pPr>
            <a:r>
              <a:t>Time: 22:14:08</a:t>
            </a:r>
          </a:p>
          <a:p>
            <a:pPr>
              <a:spcAft>
                <a:spcPts val="200"/>
              </a:spcAft>
              <a:defRPr sz="750" b="0">
                <a:solidFill>
                  <a:srgbClr val="0F172A"/>
                </a:solidFill>
                <a:latin typeface="Segoe UI"/>
              </a:defRPr>
            </a:pPr>
            <a:r>
              <a:t>Date: 20-05-2026</a:t>
            </a:r>
          </a:p>
          <a:p>
            <a:pPr>
              <a:spcAft>
                <a:spcPts val="200"/>
              </a:spcAft>
              <a:defRPr sz="750" b="1">
                <a:solidFill>
                  <a:srgbClr val="0F172A"/>
                </a:solidFill>
                <a:latin typeface="Segoe UI"/>
              </a:defRPr>
            </a:pPr>
            <a:r>
              <a:t>Risk Level: HIGH 🔴</a:t>
            </a:r>
          </a:p>
          <a:p>
            <a:pPr>
              <a:spcAft>
                <a:spcPts val="200"/>
              </a:spcAft>
              <a:defRPr sz="750" b="1">
                <a:solidFill>
                  <a:srgbClr val="0F172A"/>
                </a:solidFill>
                <a:latin typeface="Segoe UI"/>
              </a:defRPr>
            </a:pPr>
            <a:r>
              <a:t>✔ Evidence Saved (Clip+Snap)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rish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371600" cy="924674"/>
          </a:xfrm>
          <a:prstGeom prst="rect">
            <a:avLst/>
          </a:prstGeom>
        </p:spPr>
      </p:pic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09728"/>
            <a:ext cx="1965960" cy="8283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46304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1E3A8A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510528"/>
            <a:ext cx="48737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>
                <a:solidFill>
                  <a:srgbClr val="1E40AF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1E40A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749808"/>
            <a:ext cx="4325112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960120"/>
            <a:ext cx="3703320" cy="44805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005840"/>
            <a:ext cx="3611880" cy="402336"/>
          </a:xfrm>
          <a:prstGeom prst="round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✅  FEASIBILITY OF THE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472184"/>
            <a:ext cx="348386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✔ Uses existing IP CCTV infrastructure (RTSP/ONVIF).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✔ Software-based solution – no need for new hardware.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✔ Proven AI technologies: YOLO/SSD, OCR, Face Recognition, OpenCV.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✔ Public datasets (COCO, WIDER FACE, PETS, CUHK Square) for training &amp; evaluation.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✔ Edge-ready – works on laptops, GPUs or edge devices.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✔ Modular architecture for incremental feature addition.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18888"/>
            <a:ext cx="3429000" cy="475488"/>
          </a:xfrm>
          <a:prstGeom prst="round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📊 TECHNICALLY FEASIBLE, SCALABLE &amp; COST-EFFECTIVE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2816" y="960120"/>
            <a:ext cx="3703320" cy="44805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88536" y="1005840"/>
            <a:ext cx="3611880" cy="402336"/>
          </a:xfrm>
          <a:prstGeom prst="round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⚠️  POTENTIAL CHALLENGES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1472184"/>
            <a:ext cx="3483864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⚠ Poor quality / night-time video (low visibility)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⚠ Multiple CCTV streams processing load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⚠ False positives / false negatives in edge cases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⚠ Existing legacy camera integration variance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⚠ Face &amp; number plate recognition at distance/angles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⚠ Large feature scope management in Phase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960120"/>
            <a:ext cx="3703320" cy="4480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65592" y="1005840"/>
            <a:ext cx="3611880" cy="402336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🛡️  STRATEGIES TO OVERCOME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472184"/>
            <a:ext cx="3483864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🔧 Data: Denoising, enhancement, CLAHE &amp; day/night augmentation.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🔧 Performance: Model pruning, FP16 quantization, TensorRT/GPU edge acceleration.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🔧 Accuracy: Threshold tuning + DeepSORT tracking + confidence verification.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🔧 Integration: Standard RTSP/ONVIF connectors with modular microservices.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🔧 Privacy &amp; Security: Role-based access, encrypted video storage.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🔧 Scope: Prioritize core MVP → Detection → Tracking → Intrusion → Alerts.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532120"/>
            <a:ext cx="11460175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1200" b="1">
                <a:solidFill>
                  <a:srgbClr val="FDE047"/>
                </a:solidFill>
                <a:latin typeface="Arial"/>
              </a:defRPr>
            </a:pPr>
            <a:r>
              <a:t>💡 BOTTOM LINE: Technically feasible, scalable and cost-effective —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with risks manageable through modular microservice design, edge optimization and phased MVP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rish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371600" cy="924674"/>
          </a:xfrm>
          <a:prstGeom prst="rect">
            <a:avLst/>
          </a:prstGeom>
        </p:spPr>
      </p:pic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09728"/>
            <a:ext cx="1965960" cy="8283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46304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1E3A8A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510528"/>
            <a:ext cx="48737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>
                <a:solidFill>
                  <a:srgbClr val="1E40AF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1E40A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749808"/>
            <a:ext cx="3959352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114601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50" b="1">
                <a:solidFill>
                  <a:srgbClr val="1E3A8A"/>
                </a:solidFill>
                <a:latin typeface="Arial"/>
              </a:defRPr>
            </a:pPr>
            <a:r>
              <a:t>•  IMPACT ON TARGET AUDIENCE  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70432"/>
            <a:ext cx="2176272" cy="187451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2336" y="1207008"/>
            <a:ext cx="2103120" cy="292608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80" b="1">
                <a:solidFill>
                  <a:srgbClr val="FFFFFF"/>
                </a:solidFill>
                <a:latin typeface="Arial"/>
              </a:defRPr>
            </a:pPr>
            <a:r>
              <a:t>BORDER SECURITY FORCES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572768"/>
            <a:ext cx="2029968" cy="1435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  <a:latin typeface="Segoe UI"/>
              </a:defRPr>
            </a:pPr>
            <a:r>
              <a:t>Faster detection of suspicious activities and intrusions.</a:t>
            </a:r>
            <a:br/>
            <a:r>
              <a:t>Improved situational awareness.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1170432"/>
            <a:ext cx="2176272" cy="187451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88336" y="1207008"/>
            <a:ext cx="2103120" cy="29260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80" b="1">
                <a:solidFill>
                  <a:srgbClr val="FFFFFF"/>
                </a:solidFill>
                <a:latin typeface="Arial"/>
              </a:defRPr>
            </a:pPr>
            <a:r>
              <a:t>SECURITY OPERATORS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572768"/>
            <a:ext cx="2029968" cy="1435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  <a:latin typeface="Segoe UI"/>
              </a:defRPr>
            </a:pPr>
            <a:r>
              <a:t>Automated detection of humans, vehicles and events.</a:t>
            </a:r>
            <a:br/>
            <a:r>
              <a:t>Reduced workload and prioritized alerts.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1170432"/>
            <a:ext cx="2176272" cy="187451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74336" y="1207008"/>
            <a:ext cx="2103120" cy="292608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80" b="1">
                <a:solidFill>
                  <a:srgbClr val="FFFFFF"/>
                </a:solidFill>
                <a:latin typeface="Arial"/>
              </a:defRPr>
            </a:pPr>
            <a:r>
              <a:t>COMMAND &amp; CONTROL CENTRES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1572768"/>
            <a:ext cx="2029968" cy="1435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  <a:latin typeface="Segoe UI"/>
              </a:defRPr>
            </a:pPr>
            <a:r>
              <a:t>Centralized alerts, event logs, video snippets and metadata.</a:t>
            </a:r>
            <a:br/>
            <a:r>
              <a:t>Faster decision-making and response.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1170432"/>
            <a:ext cx="2176272" cy="187451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60336" y="1207008"/>
            <a:ext cx="2103120" cy="292608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80" b="1">
                <a:solidFill>
                  <a:srgbClr val="FFFFFF"/>
                </a:solidFill>
                <a:latin typeface="Arial"/>
              </a:defRPr>
            </a:pPr>
            <a:r>
              <a:t>GOVERNMENT &amp; AGENCIES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1572768"/>
            <a:ext cx="2029968" cy="1435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  <a:latin typeface="Segoe UI"/>
              </a:defRPr>
            </a:pPr>
            <a:r>
              <a:t>Scalable solution using existing infrastructure.</a:t>
            </a:r>
            <a:br/>
            <a:r>
              <a:t>No need for dedicated FRS/ANPR smart hardware.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1170432"/>
            <a:ext cx="2176272" cy="187451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46336" y="1207008"/>
            <a:ext cx="2103120" cy="292608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80" b="1">
                <a:solidFill>
                  <a:srgbClr val="FFFFFF"/>
                </a:solidFill>
                <a:latin typeface="Arial"/>
              </a:defRPr>
            </a:pPr>
            <a:r>
              <a:t>REMOTE BORDER POSTS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2" y="1572768"/>
            <a:ext cx="2029968" cy="1435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  <a:latin typeface="Segoe UI"/>
              </a:defRPr>
            </a:pPr>
            <a:r>
              <a:t>AI-assisted monitoring even in resource-limited and remote perimeter locations.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127248"/>
            <a:ext cx="114601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50" b="1">
                <a:solidFill>
                  <a:srgbClr val="1E3A8A"/>
                </a:solidFill>
                <a:latin typeface="Arial"/>
              </a:defRPr>
            </a:pPr>
            <a:r>
              <a:t>•  KEY BENEFITS  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401568"/>
            <a:ext cx="2761488" cy="2029968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2336" y="3438144"/>
            <a:ext cx="2688336" cy="329184"/>
          </a:xfrm>
          <a:prstGeom prst="round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SOCIAL BENEFITS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3803904"/>
            <a:ext cx="2615184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  <a:latin typeface="Segoe UI"/>
              </a:defRPr>
            </a:pPr>
            <a:r>
              <a:t>• Improved border safety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  <a:latin typeface="Segoe UI"/>
              </a:defRPr>
            </a:pPr>
            <a:r>
              <a:t>• Faster response to incidents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  <a:latin typeface="Segoe UI"/>
              </a:defRPr>
            </a:pPr>
            <a:r>
              <a:t>• Reduced operator workload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  <a:latin typeface="Segoe UI"/>
              </a:defRPr>
            </a:pPr>
            <a:r>
              <a:t>• Better situational awareness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64408" y="3401568"/>
            <a:ext cx="2761488" cy="202996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00984" y="3438144"/>
            <a:ext cx="2688336" cy="329184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ECONOMIC BENEFITS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803904"/>
            <a:ext cx="2615184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  <a:latin typeface="Segoe UI"/>
              </a:defRPr>
            </a:pPr>
            <a:r>
              <a:t>• Reuses existing CCTV infrastructure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  <a:latin typeface="Segoe UI"/>
              </a:defRPr>
            </a:pPr>
            <a:r>
              <a:t>• Lower hardware cost &amp; capex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  <a:latin typeface="Segoe UI"/>
              </a:defRPr>
            </a:pPr>
            <a:r>
              <a:t>• Open-source core technology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  <a:latin typeface="Segoe UI"/>
              </a:defRPr>
            </a:pPr>
            <a:r>
              <a:t>• Scalable multi-site deployment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3056" y="3401568"/>
            <a:ext cx="2761488" cy="2029968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9632" y="3438144"/>
            <a:ext cx="2688336" cy="329184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OPERATIONAL BENEFITS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3803904"/>
            <a:ext cx="2615184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  <a:latin typeface="Segoe UI"/>
              </a:defRPr>
            </a:pPr>
            <a:r>
              <a:t>• Real-time human &amp; vehicle detection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  <a:latin typeface="Segoe UI"/>
              </a:defRPr>
            </a:pPr>
            <a:r>
              <a:t>• Face &amp; license plate recognition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  <a:latin typeface="Segoe UI"/>
              </a:defRPr>
            </a:pPr>
            <a:r>
              <a:t>• Virtual-fence intrusion detection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  <a:latin typeface="Segoe UI"/>
              </a:defRPr>
            </a:pPr>
            <a:r>
              <a:t>• Automated alerts &amp; evidence logging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61704" y="3401568"/>
            <a:ext cx="2761488" cy="2029968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98280" y="3438144"/>
            <a:ext cx="2688336" cy="329184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ENVIRONMENTAL / RESOURCE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4856" y="3803904"/>
            <a:ext cx="2615184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  <a:latin typeface="Segoe UI"/>
              </a:defRPr>
            </a:pPr>
            <a:r>
              <a:t>• Extends operational life of existing cameras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  <a:latin typeface="Segoe UI"/>
              </a:defRPr>
            </a:pPr>
            <a:r>
              <a:t>• Reduces unnecessary e-waste &amp; replacement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  <a:latin typeface="Segoe UI"/>
              </a:defRPr>
            </a:pPr>
            <a:r>
              <a:t>• Edge processing minimizes cloud bandwidth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  <a:latin typeface="Segoe UI"/>
              </a:defRPr>
            </a:pPr>
            <a:r>
              <a:t>• Energy-efficient compute architecture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532120"/>
            <a:ext cx="11460175" cy="777240"/>
          </a:xfrm>
          <a:prstGeom prst="roundRect">
            <a:avLst/>
          </a:prstGeom>
          <a:solidFill>
            <a:srgbClr val="064E3B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1200" b="1">
                <a:solidFill>
                  <a:srgbClr val="FDE047"/>
                </a:solidFill>
                <a:latin typeface="Arial"/>
              </a:defRPr>
            </a:pPr>
            <a:r>
              <a:t>🎯 OVERALL IMPACT: EXISTING CCTV + AI INTELLIGENCE + REAL-TIME ALERTS</a:t>
            </a:r>
          </a:p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= A SMARTER, FASTER &amp; MORE PROACTIVE BORDER-SECURITY NETWORK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rish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371600" cy="924674"/>
          </a:xfrm>
          <a:prstGeom prst="rect">
            <a:avLst/>
          </a:prstGeom>
        </p:spPr>
      </p:pic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09728"/>
            <a:ext cx="1965960" cy="8283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46304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1E3A8A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510528"/>
            <a:ext cx="48737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>
                <a:solidFill>
                  <a:srgbClr val="1E40AF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1E40A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749808"/>
            <a:ext cx="4507992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960120"/>
            <a:ext cx="2176272" cy="34747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2336" y="996696"/>
            <a:ext cx="2103120" cy="347472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1. 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1362456"/>
            <a:ext cx="2066544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  <a:latin typeface="Segoe UI"/>
              </a:defRPr>
            </a:pPr>
            <a:r>
              <a:t>Smart India Hackathon 2026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SIH26187</a:t>
            </a:r>
          </a:p>
          <a:p>
            <a:pPr algn="ctr">
              <a:spcAft>
                <a:spcPts val="400"/>
              </a:spcAft>
              <a:defRPr sz="780" b="1">
                <a:solidFill>
                  <a:srgbClr val="0F172A"/>
                </a:solidFill>
                <a:latin typeface="Segoe UI"/>
              </a:defRPr>
            </a:pPr>
            <a:r>
              <a:t>AI-Based Intelligent Video Analytics Platform for Border Surveillance using Existing CCTV Infrastructure</a:t>
            </a:r>
          </a:p>
          <a:p>
            <a:pPr algn="ctr">
              <a:spcAft>
                <a:spcPts val="400"/>
              </a:spcAft>
              <a:defRPr sz="780">
                <a:solidFill>
                  <a:srgbClr val="64748B"/>
                </a:solidFill>
                <a:latin typeface="Segoe UI"/>
              </a:defRPr>
            </a:pPr>
            <a:r>
              <a:t>Ministry of Home Affairs</a:t>
            </a:r>
            <a:br/>
            <a:r>
              <a:t>Smart Automation</a:t>
            </a:r>
          </a:p>
          <a:p>
            <a:pPr algn="ctr">
              <a:defRPr sz="720">
                <a:solidFill>
                  <a:srgbClr val="1D4ED8"/>
                </a:solidFill>
                <a:latin typeface="Segoe UI"/>
              </a:defRPr>
            </a:pPr>
            <a:r>
              <a:t>sih2026.vuce.in/en/ps/SIH26187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960120"/>
            <a:ext cx="2176272" cy="3474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88336" y="996696"/>
            <a:ext cx="2103120" cy="347472"/>
          </a:xfrm>
          <a:prstGeom prst="round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2. TECHNOLOGIES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1362456"/>
            <a:ext cx="2066544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• OpenCV</a:t>
            </a:r>
          </a:p>
          <a:p>
            <a:pPr>
              <a:spcAft>
                <a:spcPts val="300"/>
              </a:spcAft>
              <a:defRPr sz="750">
                <a:solidFill>
                  <a:srgbClr val="64748B"/>
                </a:solidFill>
                <a:latin typeface="Segoe UI"/>
              </a:defRPr>
            </a:pPr>
            <a:r>
              <a:t>   (Image &amp; Video Processing)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• YOLO / SSD</a:t>
            </a:r>
          </a:p>
          <a:p>
            <a:pPr>
              <a:spcAft>
                <a:spcPts val="300"/>
              </a:spcAft>
              <a:defRPr sz="750">
                <a:solidFill>
                  <a:srgbClr val="64748B"/>
                </a:solidFill>
                <a:latin typeface="Segoe UI"/>
              </a:defRPr>
            </a:pPr>
            <a:r>
              <a:t>   (Object Detection)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• PyTorch</a:t>
            </a:r>
          </a:p>
          <a:p>
            <a:pPr>
              <a:spcAft>
                <a:spcPts val="300"/>
              </a:spcAft>
              <a:defRPr sz="750">
                <a:solidFill>
                  <a:srgbClr val="64748B"/>
                </a:solidFill>
                <a:latin typeface="Segoe UI"/>
              </a:defRPr>
            </a:pPr>
            <a:r>
              <a:t>   (Deep Learning Framework)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• OCR</a:t>
            </a:r>
          </a:p>
          <a:p>
            <a:pPr>
              <a:spcAft>
                <a:spcPts val="300"/>
              </a:spcAft>
              <a:defRPr sz="750">
                <a:solidFill>
                  <a:srgbClr val="64748B"/>
                </a:solidFill>
                <a:latin typeface="Segoe UI"/>
              </a:defRPr>
            </a:pPr>
            <a:r>
              <a:t>   (License Plate Recognition)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• Face Recognition</a:t>
            </a:r>
          </a:p>
          <a:p>
            <a:pPr>
              <a:spcAft>
                <a:spcPts val="300"/>
              </a:spcAft>
              <a:defRPr sz="750">
                <a:solidFill>
                  <a:srgbClr val="64748B"/>
                </a:solidFill>
                <a:latin typeface="Segoe UI"/>
              </a:defRPr>
            </a:pPr>
            <a:r>
              <a:t>   (Identity Matching)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960120"/>
            <a:ext cx="2176272" cy="347472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74336" y="996696"/>
            <a:ext cx="2103120" cy="347472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3. DATASETS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362456"/>
            <a:ext cx="2066544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• COCO</a:t>
            </a:r>
          </a:p>
          <a:p>
            <a:pPr>
              <a:spcAft>
                <a:spcPts val="300"/>
              </a:spcAft>
              <a:defRPr sz="750">
                <a:solidFill>
                  <a:srgbClr val="64748B"/>
                </a:solidFill>
                <a:latin typeface="Segoe UI"/>
              </a:defRPr>
            </a:pPr>
            <a:r>
              <a:t>   (Object Detection)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• WIDER FACE</a:t>
            </a:r>
          </a:p>
          <a:p>
            <a:pPr>
              <a:spcAft>
                <a:spcPts val="300"/>
              </a:spcAft>
              <a:defRPr sz="750">
                <a:solidFill>
                  <a:srgbClr val="64748B"/>
                </a:solidFill>
                <a:latin typeface="Segoe UI"/>
              </a:defRPr>
            </a:pPr>
            <a:r>
              <a:t>   (Face Detection)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• PETS / CUHK Square</a:t>
            </a:r>
          </a:p>
          <a:p>
            <a:pPr>
              <a:spcAft>
                <a:spcPts val="300"/>
              </a:spcAft>
              <a:defRPr sz="750">
                <a:solidFill>
                  <a:srgbClr val="64748B"/>
                </a:solidFill>
                <a:latin typeface="Segoe UI"/>
              </a:defRPr>
            </a:pPr>
            <a:r>
              <a:t>   (Surveillance Videos)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• OpenALPR</a:t>
            </a:r>
          </a:p>
          <a:p>
            <a:pPr>
              <a:spcAft>
                <a:spcPts val="300"/>
              </a:spcAft>
              <a:defRPr sz="750">
                <a:solidFill>
                  <a:srgbClr val="64748B"/>
                </a:solidFill>
                <a:latin typeface="Segoe UI"/>
              </a:defRPr>
            </a:pPr>
            <a:r>
              <a:t>   (License Plate Recognition)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960120"/>
            <a:ext cx="2176272" cy="347472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0336" y="996696"/>
            <a:ext cx="2103120" cy="347472"/>
          </a:xfrm>
          <a:prstGeom prst="roundRect">
            <a:avLst/>
          </a:prstGeom>
          <a:solidFill>
            <a:srgbClr val="6B46C1"/>
          </a:solidFill>
          <a:ln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4. EVALUATION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1362456"/>
            <a:ext cx="2066544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19" b="1">
                <a:solidFill>
                  <a:srgbClr val="0F172A"/>
                </a:solidFill>
                <a:latin typeface="Segoe UI"/>
              </a:defRPr>
            </a:pPr>
            <a:r>
              <a:t>• mAP (Mean Average Precision)</a:t>
            </a:r>
          </a:p>
          <a:p>
            <a:pPr>
              <a:spcAft>
                <a:spcPts val="300"/>
              </a:spcAft>
              <a:defRPr sz="819" b="1">
                <a:solidFill>
                  <a:srgbClr val="0F172A"/>
                </a:solidFill>
                <a:latin typeface="Segoe UI"/>
              </a:defRPr>
            </a:pPr>
            <a:r>
              <a:t>• Accuracy &amp; Precision</a:t>
            </a:r>
          </a:p>
          <a:p>
            <a:pPr>
              <a:spcAft>
                <a:spcPts val="300"/>
              </a:spcAft>
              <a:defRPr sz="819" b="1">
                <a:solidFill>
                  <a:srgbClr val="0F172A"/>
                </a:solidFill>
                <a:latin typeface="Segoe UI"/>
              </a:defRPr>
            </a:pPr>
            <a:r>
              <a:t>• Recall &amp; F1 Score</a:t>
            </a:r>
          </a:p>
          <a:p>
            <a:pPr>
              <a:spcAft>
                <a:spcPts val="300"/>
              </a:spcAft>
              <a:defRPr sz="819" b="0">
                <a:solidFill>
                  <a:srgbClr val="0F172A"/>
                </a:solidFill>
                <a:latin typeface="Segoe UI"/>
              </a:defRPr>
            </a:pPr>
            <a:r>
              <a:t>• AUC-ROC Curve</a:t>
            </a:r>
          </a:p>
          <a:p>
            <a:pPr>
              <a:spcAft>
                <a:spcPts val="300"/>
              </a:spcAft>
              <a:defRPr sz="819" b="0">
                <a:solidFill>
                  <a:srgbClr val="0F172A"/>
                </a:solidFill>
                <a:latin typeface="Segoe UI"/>
              </a:defRPr>
            </a:pPr>
            <a:r>
              <a:t>• False Alarm Rate (FAR)</a:t>
            </a:r>
          </a:p>
          <a:p>
            <a:pPr>
              <a:spcAft>
                <a:spcPts val="300"/>
              </a:spcAft>
              <a:defRPr sz="819" b="0">
                <a:solidFill>
                  <a:srgbClr val="0F172A"/>
                </a:solidFill>
                <a:latin typeface="Segoe UI"/>
              </a:defRPr>
            </a:pPr>
            <a:r>
              <a:t>• Processing Latency (ms)</a:t>
            </a:r>
          </a:p>
          <a:p>
            <a:pPr>
              <a:spcAft>
                <a:spcPts val="300"/>
              </a:spcAft>
              <a:defRPr sz="819" b="0">
                <a:solidFill>
                  <a:srgbClr val="0F172A"/>
                </a:solidFill>
                <a:latin typeface="Segoe UI"/>
              </a:defRPr>
            </a:pPr>
            <a:r>
              <a:t>• Frames Per Second (FPS)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960120"/>
            <a:ext cx="2176272" cy="34747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46336" y="996696"/>
            <a:ext cx="2103120" cy="347472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5. DEPLOYMENT &amp;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4624" y="1362456"/>
            <a:ext cx="2066544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• FastAPI</a:t>
            </a:r>
          </a:p>
          <a:p>
            <a:pPr>
              <a:spcAft>
                <a:spcPts val="300"/>
              </a:spcAft>
              <a:defRPr sz="750">
                <a:solidFill>
                  <a:srgbClr val="64748B"/>
                </a:solidFill>
                <a:latin typeface="Segoe UI"/>
              </a:defRPr>
            </a:pPr>
            <a:r>
              <a:t>   (Backend APIs)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• PostgreSQL / SQLite</a:t>
            </a:r>
          </a:p>
          <a:p>
            <a:pPr>
              <a:spcAft>
                <a:spcPts val="300"/>
              </a:spcAft>
              <a:defRPr sz="750">
                <a:solidFill>
                  <a:srgbClr val="64748B"/>
                </a:solidFill>
                <a:latin typeface="Segoe UI"/>
              </a:defRPr>
            </a:pPr>
            <a:r>
              <a:t>   (Data Storage)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• NVIDIA TensorRT</a:t>
            </a:r>
          </a:p>
          <a:p>
            <a:pPr>
              <a:spcAft>
                <a:spcPts val="300"/>
              </a:spcAft>
              <a:defRPr sz="750">
                <a:solidFill>
                  <a:srgbClr val="64748B"/>
                </a:solidFill>
                <a:latin typeface="Segoe UI"/>
              </a:defRPr>
            </a:pPr>
            <a:r>
              <a:t>   (Inference Optimization)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• Edge / GPU Deployment</a:t>
            </a:r>
          </a:p>
          <a:p>
            <a:pPr>
              <a:spcAft>
                <a:spcPts val="300"/>
              </a:spcAft>
              <a:defRPr sz="750">
                <a:solidFill>
                  <a:srgbClr val="64748B"/>
                </a:solidFill>
                <a:latin typeface="Segoe UI"/>
              </a:defRPr>
            </a:pPr>
            <a:r>
              <a:t>   (Real-Time Processing)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572000"/>
            <a:ext cx="11460175" cy="1783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626864"/>
            <a:ext cx="11155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Arial"/>
              </a:defRPr>
            </a:pPr>
            <a:r>
              <a:t>RESEARCH  →  DEVELOPMENT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956048"/>
            <a:ext cx="164592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9496" y="4992624"/>
            <a:ext cx="1572768" cy="292608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" y="5358384"/>
            <a:ext cx="157276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1E3A8A"/>
                </a:solidFill>
                <a:latin typeface="Arial"/>
              </a:defRPr>
            </a:pPr>
            <a:r>
              <a:t>Research Papers</a:t>
            </a:r>
            <a:br/>
            <a:r>
              <a:t>&amp; Datasets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367528"/>
            <a:ext cx="21945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68296" y="4956048"/>
            <a:ext cx="164592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04872" y="4992624"/>
            <a:ext cx="1572768" cy="29260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04872" y="5358384"/>
            <a:ext cx="157276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1E3A8A"/>
                </a:solidFill>
                <a:latin typeface="Arial"/>
              </a:defRPr>
            </a:pPr>
            <a:r>
              <a:t>AI Models</a:t>
            </a:r>
            <a:br/>
            <a:r>
              <a:t>(Train &amp; Test)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14216" y="5367528"/>
            <a:ext cx="21945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33672" y="4956048"/>
            <a:ext cx="164592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70248" y="4992624"/>
            <a:ext cx="1572768" cy="29260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0248" y="5358384"/>
            <a:ext cx="157276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1E3A8A"/>
                </a:solidFill>
                <a:latin typeface="Arial"/>
              </a:defRPr>
            </a:pPr>
            <a:r>
              <a:t>Computer Vision</a:t>
            </a:r>
            <a:br/>
            <a:r>
              <a:t>&amp;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9592" y="5367528"/>
            <a:ext cx="21945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9048" y="4956048"/>
            <a:ext cx="164592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35624" y="4992624"/>
            <a:ext cx="1572768" cy="292608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5624" y="5358384"/>
            <a:ext cx="157276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1E3A8A"/>
                </a:solidFill>
                <a:latin typeface="Arial"/>
              </a:defRPr>
            </a:pPr>
            <a:r>
              <a:t>ANPR / Face</a:t>
            </a:r>
            <a:br/>
            <a:r>
              <a:t>Recognition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4968" y="5367528"/>
            <a:ext cx="21945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64424" y="4956048"/>
            <a:ext cx="164592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01000" y="4992624"/>
            <a:ext cx="1572768" cy="292608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Step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5358384"/>
            <a:ext cx="157276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1E3A8A"/>
                </a:solidFill>
                <a:latin typeface="Arial"/>
              </a:defRPr>
            </a:pPr>
            <a:r>
              <a:t>Testing &amp; Eval</a:t>
            </a:r>
            <a:br/>
            <a:r>
              <a:t>(Metrics)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10344" y="5367528"/>
            <a:ext cx="21945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9800" y="4956048"/>
            <a:ext cx="164592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866376" y="4992624"/>
            <a:ext cx="1572768" cy="2926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Step 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66376" y="5358384"/>
            <a:ext cx="157276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1E3A8A"/>
                </a:solidFill>
                <a:latin typeface="Arial"/>
              </a:defRPr>
            </a:pPr>
            <a:r>
              <a:t>Real-Time</a:t>
            </a:r>
            <a:br/>
            <a:r>
              <a:t>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